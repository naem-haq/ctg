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Naem Haq. This final year project benchmarks machine-learning classifiers for fetal heart rate pattern detection in Cardiotocography, CTG for short. The work was shaped during my 4th Residency at INFANT Research Centre, where interpretation variability in labour monitoring highlighted the need for controlled, reproducible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CTG is a core intrapartum monitoring tool, but interpretation can be subjective and variable across clinicians and settings. That variability motivates computational decision support. During my Residency 4 placement at INFANT, this practical need became clear, which directly motivated a controlled benchmarking study rather than an isolated model-building exercise.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was to benchmark two model families under the same conditions: Random Forest and 1D-CNN. This is a within-cohort CTU-UHB benchmark with weakly supervised labels. I keep claims bounded to fixed-split comparative evidence, so conclusions are transparent and proportional to executed analysis.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key contribution is fairness of comparison. Both models share the same preprocessing, grouped splitting, and evaluation framework. Record-level grouping prevents leakage between train and test windows from the same labour record. Reproducibility is supported by fixed seeds, stored split manifests, and exported artifacts for auditability.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runs from raw CTG through quality control, preprocessing, segmentation and feature construction, then model training and evaluation. Beyond headline metrics, I include class-wise error analysis, threshold behavior, and post-processing effects so the benchmark reflects operational decision-support needs.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performance gap is substantial on held-out windows: RF reaches 95.55% accuracy and macro-F1 0.945, while CNN reaches 65.31% and 0.584. At record level, CNN drops further to 48.19% accuracy and macro-F1 0.383. Under this tested regime, Random Forest is the stronger baseline.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confusion matrices show how the aggregate metric gap appears structurally. RF displays stronger diagonal concentration, indicating better class separation. The CNN matrix shows broader off-diagonal confusion, especially around boundary classes, which contributes to weaker macro-F1 and lower stability after aggregation.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RF importance outputs provide interpretable evidence about which domains drive model decisions, supporting transparency. On the right, the alert timeline illustrates temporal behavior under post-processing policy, showing that usability and alert stability depend on threshold and smoothing choices, not only classifier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conclusion is conditional and scoped: under the tested conditions, Random Forest is currently the more suitable transparent benchmark baseline. This is not a universal claim against deep learning. The study contributes an auditable foundation that future work can extend.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findings are specific to the CTU-UHB cohort and weak-label setting used in this benchmark. Next steps are uncertainty-focused repeat evaluation and external validation on broader datasets to support prospective clinician-facing translation in INFANT/AI4Life contexts.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6" name="Rectangle 5"/>
          <p:cNvSpPr/>
          <p:nvPr/>
        </p:nvSpPr>
        <p:spPr>
          <a:xfrm>
            <a:off x="0" y="0"/>
            <a:ext cx="12188952" cy="109728"/>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0" y="4389120"/>
            <a:ext cx="3657600" cy="3657600"/>
          </a:xfrm>
          <a:prstGeom prst="ellipse">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914400"/>
            <a:ext cx="3657600" cy="3657600"/>
          </a:xfrm>
          <a:prstGeom prst="ellipse">
            <a:avLst/>
          </a:prstGeom>
          <a:solidFill>
            <a:srgbClr val="336D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p:txBody>
          <a:bodyPr/>
          <a:lstStyle/>
          <a:p>
            <a:pPr>
              <a:defRPr sz="4000" b="1">
                <a:solidFill>
                  <a:srgbClr val="ECF1FF"/>
                </a:solidFill>
                <a:latin typeface="Calibri"/>
              </a:defRPr>
            </a:pPr>
            <a:r>
              <a:rPr sz="4000" b="1">
                <a:solidFill>
                  <a:srgbClr val="ECF1FF"/>
                </a:solidFill>
                <a:latin typeface="Calibri"/>
              </a:rPr>
              <a:t>Benchmarking ML Classifiers for CTG</a:t>
            </a:r>
          </a:p>
          <a:p>
            <a:r>
              <a:t>Fetal Heart Rate Pattern Detection</a:t>
            </a:r>
          </a:p>
        </p:txBody>
      </p:sp>
      <p:sp>
        <p:nvSpPr>
          <p:cNvPr id="3" name="Subtitle 2"/>
          <p:cNvSpPr>
            <a:spLocks noGrp="1"/>
          </p:cNvSpPr>
          <p:nvPr>
            <p:ph type="subTitle" idx="1"/>
          </p:nvPr>
        </p:nvSpPr>
        <p:spPr/>
        <p:txBody>
          <a:bodyPr/>
          <a:lstStyle/>
          <a:p>
            <a:pPr>
              <a:defRPr sz="1800" b="0">
                <a:solidFill>
                  <a:srgbClr val="B9C4E2"/>
                </a:solidFill>
                <a:latin typeface="Calibri"/>
              </a:defRPr>
            </a:pPr>
            <a:r>
              <a:rPr sz="1800" b="0">
                <a:solidFill>
                  <a:srgbClr val="B9C4E2"/>
                </a:solidFill>
                <a:latin typeface="Calibri"/>
              </a:rPr>
              <a:t>Naem Haq</a:t>
            </a:r>
          </a:p>
          <a:p>
            <a:pPr>
              <a:defRPr sz="1800" b="0">
                <a:solidFill>
                  <a:srgbClr val="B9C4E2"/>
                </a:solidFill>
                <a:latin typeface="Calibri"/>
              </a:defRPr>
            </a:pPr>
            <a:r>
              <a:rPr sz="1800" b="0">
                <a:solidFill>
                  <a:srgbClr val="B9C4E2"/>
                </a:solidFill>
                <a:latin typeface="Calibri"/>
              </a:rPr>
              <a:t>FYP Dissertation Presentation</a:t>
            </a:r>
          </a:p>
          <a:p>
            <a:pPr>
              <a:defRPr sz="1800" b="0">
                <a:solidFill>
                  <a:srgbClr val="B9C4E2"/>
                </a:solidFill>
                <a:latin typeface="Calibri"/>
              </a:defRPr>
            </a:pPr>
            <a:r>
              <a:rPr sz="1800" b="0">
                <a:solidFill>
                  <a:srgbClr val="B9C4E2"/>
                </a:solidFill>
                <a:latin typeface="Calibri"/>
              </a:rPr>
              <a:t>Residency 4 context: INFANT Research Centre (UCC)</a:t>
            </a:r>
          </a:p>
        </p:txBody>
      </p:sp>
      <p:sp>
        <p:nvSpPr>
          <p:cNvPr id="7" name="Rounded Rectangle 6"/>
          <p:cNvSpPr/>
          <p:nvPr/>
        </p:nvSpPr>
        <p:spPr>
          <a:xfrm>
            <a:off x="822960" y="5440680"/>
            <a:ext cx="3840480" cy="502920"/>
          </a:xfrm>
          <a:prstGeom prst="roundRect">
            <a:avLst/>
          </a:prstGeom>
          <a:solidFill>
            <a:srgbClr val="336D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a:solidFill>
                  <a:srgbClr val="ECF1FF"/>
                </a:solidFill>
                <a:latin typeface="Calibri"/>
              </a:defRPr>
            </a:pPr>
            <a:r>
              <a:t>CTU-UHB • RF vs 1D-CNN • Reproducible Benchmark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6" name="Rectangle 5"/>
          <p:cNvSpPr/>
          <p:nvPr/>
        </p:nvSpPr>
        <p:spPr>
          <a:xfrm>
            <a:off x="0" y="0"/>
            <a:ext cx="12188952" cy="109728"/>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0" y="4389120"/>
            <a:ext cx="3657600" cy="3657600"/>
          </a:xfrm>
          <a:prstGeom prst="ellipse">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914400"/>
            <a:ext cx="3657600" cy="3657600"/>
          </a:xfrm>
          <a:prstGeom prst="ellipse">
            <a:avLst/>
          </a:prstGeom>
          <a:solidFill>
            <a:srgbClr val="336D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pPr>
              <a:defRPr sz="3400" b="1">
                <a:solidFill>
                  <a:srgbClr val="ECF1FF"/>
                </a:solidFill>
                <a:latin typeface="Calibri"/>
              </a:defRPr>
            </a:pPr>
            <a:r>
              <a:rPr sz="3400" b="1">
                <a:solidFill>
                  <a:srgbClr val="ECF1FF"/>
                </a:solidFill>
                <a:latin typeface="Calibri"/>
              </a:rPr>
              <a:t>Motivation and Context</a:t>
            </a:r>
          </a:p>
        </p:txBody>
      </p:sp>
      <p:sp>
        <p:nvSpPr>
          <p:cNvPr id="3" name="Content Placeholder 2"/>
          <p:cNvSpPr>
            <a:spLocks noGrp="1"/>
          </p:cNvSpPr>
          <p:nvPr>
            <p:ph idx="1"/>
          </p:nvPr>
        </p:nvSpPr>
        <p:spPr/>
        <p:txBody>
          <a:bodyPr/>
          <a:lstStyle/>
          <a:p>
            <a:pPr>
              <a:defRPr sz="2000" b="0">
                <a:solidFill>
                  <a:srgbClr val="ECF1FF"/>
                </a:solidFill>
                <a:latin typeface="Calibri"/>
              </a:defRPr>
            </a:pPr>
            <a:r>
              <a:rPr sz="2000" b="0">
                <a:solidFill>
                  <a:srgbClr val="ECF1FF"/>
                </a:solidFill>
                <a:latin typeface="Calibri"/>
              </a:rPr>
              <a:t>CTG is widely used in labour monitoring, but interpretation can be subjective.</a:t>
            </a:r>
          </a:p>
          <a:p>
            <a:pPr>
              <a:defRPr sz="2000" b="0">
                <a:solidFill>
                  <a:srgbClr val="ECF1FF"/>
                </a:solidFill>
                <a:latin typeface="Calibri"/>
              </a:defRPr>
            </a:pPr>
            <a:r>
              <a:rPr sz="2000" b="0">
                <a:solidFill>
                  <a:srgbClr val="ECF1FF"/>
                </a:solidFill>
                <a:latin typeface="Calibri"/>
              </a:rPr>
              <a:t>Clinical variability motivates transparent decision-support benchmarking.</a:t>
            </a:r>
          </a:p>
          <a:p>
            <a:pPr>
              <a:defRPr sz="2000" b="0">
                <a:solidFill>
                  <a:srgbClr val="ECF1FF"/>
                </a:solidFill>
                <a:latin typeface="Calibri"/>
              </a:defRPr>
            </a:pPr>
            <a:r>
              <a:rPr sz="2000" b="0">
                <a:solidFill>
                  <a:srgbClr val="ECF1FF"/>
                </a:solidFill>
                <a:latin typeface="Calibri"/>
              </a:rPr>
              <a:t>This benchmarking focus was shaped during Residency 4 at INFANT Research Centre.</a:t>
            </a:r>
          </a:p>
        </p:txBody>
      </p:sp>
      <p:sp>
        <p:nvSpPr>
          <p:cNvPr id="7" name="Rectangle 6"/>
          <p:cNvSpPr/>
          <p:nvPr/>
        </p:nvSpPr>
        <p:spPr>
          <a:xfrm>
            <a:off x="822960" y="1234440"/>
            <a:ext cx="2011680" cy="45720"/>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6" name="Rectangle 5"/>
          <p:cNvSpPr/>
          <p:nvPr/>
        </p:nvSpPr>
        <p:spPr>
          <a:xfrm>
            <a:off x="0" y="0"/>
            <a:ext cx="12188952" cy="109728"/>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0" y="4389120"/>
            <a:ext cx="3657600" cy="3657600"/>
          </a:xfrm>
          <a:prstGeom prst="ellipse">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914400"/>
            <a:ext cx="3657600" cy="3657600"/>
          </a:xfrm>
          <a:prstGeom prst="ellipse">
            <a:avLst/>
          </a:prstGeom>
          <a:solidFill>
            <a:srgbClr val="336D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pPr>
              <a:defRPr sz="3400" b="1">
                <a:solidFill>
                  <a:srgbClr val="ECF1FF"/>
                </a:solidFill>
                <a:latin typeface="Calibri"/>
              </a:defRPr>
            </a:pPr>
            <a:r>
              <a:rPr sz="3400" b="1">
                <a:solidFill>
                  <a:srgbClr val="ECF1FF"/>
                </a:solidFill>
                <a:latin typeface="Calibri"/>
              </a:rPr>
              <a:t>Aim and Scope</a:t>
            </a:r>
          </a:p>
        </p:txBody>
      </p:sp>
      <p:sp>
        <p:nvSpPr>
          <p:cNvPr id="3" name="Content Placeholder 2"/>
          <p:cNvSpPr>
            <a:spLocks noGrp="1"/>
          </p:cNvSpPr>
          <p:nvPr>
            <p:ph idx="1"/>
          </p:nvPr>
        </p:nvSpPr>
        <p:spPr/>
        <p:txBody>
          <a:bodyPr/>
          <a:lstStyle/>
          <a:p>
            <a:pPr>
              <a:defRPr sz="2000" b="0">
                <a:solidFill>
                  <a:srgbClr val="ECF1FF"/>
                </a:solidFill>
                <a:latin typeface="Calibri"/>
              </a:defRPr>
            </a:pPr>
            <a:r>
              <a:rPr sz="2000" b="0">
                <a:solidFill>
                  <a:srgbClr val="ECF1FF"/>
                </a:solidFill>
                <a:latin typeface="Calibri"/>
              </a:rPr>
              <a:t>Aim: benchmark supervised classifiers for fetal heart rate pattern detection.</a:t>
            </a:r>
          </a:p>
          <a:p>
            <a:pPr>
              <a:defRPr sz="2000" b="0">
                <a:solidFill>
                  <a:srgbClr val="ECF1FF"/>
                </a:solidFill>
                <a:latin typeface="Calibri"/>
              </a:defRPr>
            </a:pPr>
            <a:r>
              <a:rPr sz="2000" b="0">
                <a:solidFill>
                  <a:srgbClr val="ECF1FF"/>
                </a:solidFill>
                <a:latin typeface="Calibri"/>
              </a:rPr>
              <a:t>Models compared: Random Forest (feature-based) vs 1D-CNN (raw-signal).</a:t>
            </a:r>
          </a:p>
          <a:p>
            <a:pPr>
              <a:defRPr sz="2000" b="0">
                <a:solidFill>
                  <a:srgbClr val="ECF1FF"/>
                </a:solidFill>
                <a:latin typeface="Calibri"/>
              </a:defRPr>
            </a:pPr>
            <a:r>
              <a:rPr sz="2000" b="0">
                <a:solidFill>
                  <a:srgbClr val="ECF1FF"/>
                </a:solidFill>
                <a:latin typeface="Calibri"/>
              </a:rPr>
              <a:t>Scope: within-cohort CTU-UHB benchmark with weakly supervised labels.</a:t>
            </a:r>
          </a:p>
          <a:p>
            <a:pPr>
              <a:defRPr sz="2000" b="0">
                <a:solidFill>
                  <a:srgbClr val="ECF1FF"/>
                </a:solidFill>
                <a:latin typeface="Calibri"/>
              </a:defRPr>
            </a:pPr>
            <a:r>
              <a:rPr sz="2000" b="0">
                <a:solidFill>
                  <a:srgbClr val="ECF1FF"/>
                </a:solidFill>
                <a:latin typeface="Calibri"/>
              </a:rPr>
              <a:t>Claim boundary: fixed-split comparative evidence, not inferential repeated-run ranking.</a:t>
            </a:r>
          </a:p>
        </p:txBody>
      </p:sp>
      <p:sp>
        <p:nvSpPr>
          <p:cNvPr id="7" name="Rectangle 6"/>
          <p:cNvSpPr/>
          <p:nvPr/>
        </p:nvSpPr>
        <p:spPr>
          <a:xfrm>
            <a:off x="822960" y="1234440"/>
            <a:ext cx="2011680" cy="45720"/>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6" name="Rectangle 5"/>
          <p:cNvSpPr/>
          <p:nvPr/>
        </p:nvSpPr>
        <p:spPr>
          <a:xfrm>
            <a:off x="0" y="0"/>
            <a:ext cx="12188952" cy="109728"/>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0" y="4389120"/>
            <a:ext cx="3657600" cy="3657600"/>
          </a:xfrm>
          <a:prstGeom prst="ellipse">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914400"/>
            <a:ext cx="3657600" cy="3657600"/>
          </a:xfrm>
          <a:prstGeom prst="ellipse">
            <a:avLst/>
          </a:prstGeom>
          <a:solidFill>
            <a:srgbClr val="336D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pPr>
              <a:defRPr sz="3400" b="1">
                <a:solidFill>
                  <a:srgbClr val="ECF1FF"/>
                </a:solidFill>
                <a:latin typeface="Calibri"/>
              </a:defRPr>
            </a:pPr>
            <a:r>
              <a:rPr sz="3400" b="1">
                <a:solidFill>
                  <a:srgbClr val="ECF1FF"/>
                </a:solidFill>
                <a:latin typeface="Calibri"/>
              </a:rPr>
              <a:t>Benchmark Design and Fairness Controls</a:t>
            </a:r>
          </a:p>
        </p:txBody>
      </p:sp>
      <p:sp>
        <p:nvSpPr>
          <p:cNvPr id="3" name="Content Placeholder 2"/>
          <p:cNvSpPr>
            <a:spLocks noGrp="1"/>
          </p:cNvSpPr>
          <p:nvPr>
            <p:ph idx="1"/>
          </p:nvPr>
        </p:nvSpPr>
        <p:spPr/>
        <p:txBody>
          <a:bodyPr/>
          <a:lstStyle/>
          <a:p>
            <a:pPr>
              <a:defRPr sz="2000" b="0">
                <a:solidFill>
                  <a:srgbClr val="ECF1FF"/>
                </a:solidFill>
                <a:latin typeface="Calibri"/>
              </a:defRPr>
            </a:pPr>
            <a:r>
              <a:rPr sz="2000" b="0">
                <a:solidFill>
                  <a:srgbClr val="ECF1FF"/>
                </a:solidFill>
                <a:latin typeface="Calibri"/>
              </a:rPr>
              <a:t>Shared preprocessing and leakage-aware grouped splitting by record ID.</a:t>
            </a:r>
          </a:p>
          <a:p>
            <a:pPr>
              <a:defRPr sz="2000" b="0">
                <a:solidFill>
                  <a:srgbClr val="ECF1FF"/>
                </a:solidFill>
                <a:latin typeface="Calibri"/>
              </a:defRPr>
            </a:pPr>
            <a:r>
              <a:rPr sz="2000" b="0">
                <a:solidFill>
                  <a:srgbClr val="ECF1FF"/>
                </a:solidFill>
                <a:latin typeface="Calibri"/>
              </a:rPr>
              <a:t>Common evaluation criteria: class-wise and aggregate metrics.</a:t>
            </a:r>
          </a:p>
          <a:p>
            <a:pPr>
              <a:defRPr sz="2000" b="0">
                <a:solidFill>
                  <a:srgbClr val="ECF1FF"/>
                </a:solidFill>
                <a:latin typeface="Calibri"/>
              </a:defRPr>
            </a:pPr>
            <a:r>
              <a:rPr sz="2000" b="0">
                <a:solidFill>
                  <a:srgbClr val="ECF1FF"/>
                </a:solidFill>
                <a:latin typeface="Calibri"/>
              </a:rPr>
              <a:t>Additional evidence: efficiency, confusion analysis, threshold behaviour, interpretability.</a:t>
            </a:r>
          </a:p>
          <a:p>
            <a:pPr>
              <a:defRPr sz="2000" b="0">
                <a:solidFill>
                  <a:srgbClr val="ECF1FF"/>
                </a:solidFill>
                <a:latin typeface="Calibri"/>
              </a:defRPr>
            </a:pPr>
            <a:r>
              <a:rPr sz="2000" b="0">
                <a:solidFill>
                  <a:srgbClr val="ECF1FF"/>
                </a:solidFill>
                <a:latin typeface="Calibri"/>
              </a:rPr>
              <a:t>Reproducibility controls: fixed seed policy, split manifests, JSON/CSV artifacts.</a:t>
            </a:r>
          </a:p>
        </p:txBody>
      </p:sp>
      <p:sp>
        <p:nvSpPr>
          <p:cNvPr id="7" name="Rectangle 6"/>
          <p:cNvSpPr/>
          <p:nvPr/>
        </p:nvSpPr>
        <p:spPr>
          <a:xfrm>
            <a:off x="822960" y="1234440"/>
            <a:ext cx="2011680" cy="45720"/>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6" name="Rectangle 5"/>
          <p:cNvSpPr/>
          <p:nvPr/>
        </p:nvSpPr>
        <p:spPr>
          <a:xfrm>
            <a:off x="0" y="0"/>
            <a:ext cx="12188952" cy="109728"/>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0" y="4389120"/>
            <a:ext cx="3657600" cy="3657600"/>
          </a:xfrm>
          <a:prstGeom prst="ellipse">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914400"/>
            <a:ext cx="3657600" cy="3657600"/>
          </a:xfrm>
          <a:prstGeom prst="ellipse">
            <a:avLst/>
          </a:prstGeom>
          <a:solidFill>
            <a:srgbClr val="336D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pPr>
              <a:defRPr sz="3400" b="1">
                <a:solidFill>
                  <a:srgbClr val="ECF1FF"/>
                </a:solidFill>
                <a:latin typeface="Calibri"/>
              </a:defRPr>
            </a:pPr>
            <a:r>
              <a:rPr sz="3400" b="1">
                <a:solidFill>
                  <a:srgbClr val="ECF1FF"/>
                </a:solidFill>
                <a:latin typeface="Calibri"/>
              </a:rPr>
              <a:t>Pipeline</a:t>
            </a:r>
          </a:p>
        </p:txBody>
      </p:sp>
      <p:sp>
        <p:nvSpPr>
          <p:cNvPr id="3" name="Content Placeholder 2"/>
          <p:cNvSpPr>
            <a:spLocks noGrp="1"/>
          </p:cNvSpPr>
          <p:nvPr>
            <p:ph idx="1"/>
          </p:nvPr>
        </p:nvSpPr>
        <p:spPr/>
        <p:txBody>
          <a:bodyPr/>
          <a:lstStyle/>
          <a:p>
            <a:pPr>
              <a:defRPr sz="2000" b="0">
                <a:solidFill>
                  <a:srgbClr val="ECF1FF"/>
                </a:solidFill>
                <a:latin typeface="Calibri"/>
              </a:defRPr>
            </a:pPr>
            <a:r>
              <a:rPr sz="2000" b="0">
                <a:solidFill>
                  <a:srgbClr val="ECF1FF"/>
                </a:solidFill>
                <a:latin typeface="Calibri"/>
              </a:rPr>
              <a:t>Signal quality control and preprocessing</a:t>
            </a:r>
          </a:p>
          <a:p>
            <a:pPr>
              <a:defRPr sz="2000" b="0">
                <a:solidFill>
                  <a:srgbClr val="ECF1FF"/>
                </a:solidFill>
                <a:latin typeface="Calibri"/>
              </a:defRPr>
            </a:pPr>
            <a:r>
              <a:rPr sz="2000" b="0">
                <a:solidFill>
                  <a:srgbClr val="ECF1FF"/>
                </a:solidFill>
                <a:latin typeface="Calibri"/>
              </a:rPr>
              <a:t>Windowing and feature extraction</a:t>
            </a:r>
          </a:p>
          <a:p>
            <a:pPr>
              <a:defRPr sz="2000" b="0">
                <a:solidFill>
                  <a:srgbClr val="ECF1FF"/>
                </a:solidFill>
                <a:latin typeface="Calibri"/>
              </a:defRPr>
            </a:pPr>
            <a:r>
              <a:rPr sz="2000" b="0">
                <a:solidFill>
                  <a:srgbClr val="ECF1FF"/>
                </a:solidFill>
                <a:latin typeface="Calibri"/>
              </a:rPr>
              <a:t>Model training with grouped holdout protocol</a:t>
            </a:r>
          </a:p>
          <a:p>
            <a:pPr>
              <a:defRPr sz="2000" b="0">
                <a:solidFill>
                  <a:srgbClr val="ECF1FF"/>
                </a:solidFill>
                <a:latin typeface="Calibri"/>
              </a:defRPr>
            </a:pPr>
            <a:r>
              <a:rPr sz="2000" b="0">
                <a:solidFill>
                  <a:srgbClr val="ECF1FF"/>
                </a:solidFill>
                <a:latin typeface="Calibri"/>
              </a:rPr>
              <a:t>Evaluation, error analysis, thresholding, and post-processing review</a:t>
            </a:r>
          </a:p>
        </p:txBody>
      </p:sp>
      <p:sp>
        <p:nvSpPr>
          <p:cNvPr id="7" name="Rectangle 6"/>
          <p:cNvSpPr/>
          <p:nvPr/>
        </p:nvSpPr>
        <p:spPr>
          <a:xfrm>
            <a:off x="822960" y="1234440"/>
            <a:ext cx="2011680" cy="45720"/>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6" name="Rectangle 5"/>
          <p:cNvSpPr/>
          <p:nvPr/>
        </p:nvSpPr>
        <p:spPr>
          <a:xfrm>
            <a:off x="0" y="0"/>
            <a:ext cx="12188952" cy="109728"/>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0" y="4389120"/>
            <a:ext cx="3657600" cy="3657600"/>
          </a:xfrm>
          <a:prstGeom prst="ellipse">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914400"/>
            <a:ext cx="3657600" cy="3657600"/>
          </a:xfrm>
          <a:prstGeom prst="ellipse">
            <a:avLst/>
          </a:prstGeom>
          <a:solidFill>
            <a:srgbClr val="336D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pPr>
              <a:defRPr sz="3400" b="1">
                <a:solidFill>
                  <a:srgbClr val="ECF1FF"/>
                </a:solidFill>
                <a:latin typeface="Calibri"/>
              </a:defRPr>
            </a:pPr>
            <a:r>
              <a:rPr sz="3400" b="1">
                <a:solidFill>
                  <a:srgbClr val="ECF1FF"/>
                </a:solidFill>
                <a:latin typeface="Calibri"/>
              </a:rPr>
              <a:t>Headline Results</a:t>
            </a:r>
          </a:p>
        </p:txBody>
      </p:sp>
      <p:sp>
        <p:nvSpPr>
          <p:cNvPr id="3" name="Content Placeholder 2"/>
          <p:cNvSpPr>
            <a:spLocks noGrp="1"/>
          </p:cNvSpPr>
          <p:nvPr>
            <p:ph idx="1"/>
          </p:nvPr>
        </p:nvSpPr>
        <p:spPr/>
        <p:txBody>
          <a:bodyPr/>
          <a:lstStyle/>
          <a:p>
            <a:pPr>
              <a:defRPr sz="2000" b="0">
                <a:solidFill>
                  <a:srgbClr val="ECF1FF"/>
                </a:solidFill>
                <a:latin typeface="Calibri"/>
              </a:defRPr>
            </a:pPr>
            <a:r>
              <a:rPr sz="2000" b="0">
                <a:solidFill>
                  <a:srgbClr val="ECF1FF"/>
                </a:solidFill>
                <a:latin typeface="Calibri"/>
              </a:rPr>
              <a:t>Held-out windows: RF 95.55% accuracy, macro-F1 0.945.</a:t>
            </a:r>
          </a:p>
          <a:p>
            <a:pPr>
              <a:defRPr sz="2000" b="0">
                <a:solidFill>
                  <a:srgbClr val="ECF1FF"/>
                </a:solidFill>
                <a:latin typeface="Calibri"/>
              </a:defRPr>
            </a:pPr>
            <a:r>
              <a:rPr sz="2000" b="0">
                <a:solidFill>
                  <a:srgbClr val="ECF1FF"/>
                </a:solidFill>
                <a:latin typeface="Calibri"/>
              </a:rPr>
              <a:t>Held-out windows: CNN 65.31% accuracy, macro-F1 0.584.</a:t>
            </a:r>
          </a:p>
          <a:p>
            <a:pPr>
              <a:defRPr sz="2000" b="0">
                <a:solidFill>
                  <a:srgbClr val="ECF1FF"/>
                </a:solidFill>
                <a:latin typeface="Calibri"/>
              </a:defRPr>
            </a:pPr>
            <a:r>
              <a:rPr sz="2000" b="0">
                <a:solidFill>
                  <a:srgbClr val="ECF1FF"/>
                </a:solidFill>
                <a:latin typeface="Calibri"/>
              </a:rPr>
              <a:t>Record-level CNN drops to 48.19% accuracy, macro-F1 0.383.</a:t>
            </a:r>
          </a:p>
          <a:p>
            <a:pPr>
              <a:defRPr sz="2000" b="0">
                <a:solidFill>
                  <a:srgbClr val="ECF1FF"/>
                </a:solidFill>
                <a:latin typeface="Calibri"/>
              </a:defRPr>
            </a:pPr>
            <a:r>
              <a:rPr sz="2000" b="0">
                <a:solidFill>
                  <a:srgbClr val="ECF1FF"/>
                </a:solidFill>
                <a:latin typeface="Calibri"/>
              </a:rPr>
              <a:t>Result: RF is the stronger current baseline under this data regime.</a:t>
            </a:r>
          </a:p>
        </p:txBody>
      </p:sp>
      <p:sp>
        <p:nvSpPr>
          <p:cNvPr id="7" name="Rectangle 6"/>
          <p:cNvSpPr/>
          <p:nvPr/>
        </p:nvSpPr>
        <p:spPr>
          <a:xfrm>
            <a:off x="822960" y="1234440"/>
            <a:ext cx="2011680" cy="45720"/>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5" name="Rectangle 4"/>
          <p:cNvSpPr/>
          <p:nvPr/>
        </p:nvSpPr>
        <p:spPr>
          <a:xfrm>
            <a:off x="0" y="0"/>
            <a:ext cx="12188952" cy="109728"/>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772400" y="4389120"/>
            <a:ext cx="3657600" cy="3657600"/>
          </a:xfrm>
          <a:prstGeom prst="ellipse">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 y="-914400"/>
            <a:ext cx="3657600" cy="3657600"/>
          </a:xfrm>
          <a:prstGeom prst="ellipse">
            <a:avLst/>
          </a:prstGeom>
          <a:solidFill>
            <a:srgbClr val="336D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pPr>
              <a:defRPr sz="3400" b="1">
                <a:solidFill>
                  <a:srgbClr val="ECF1FF"/>
                </a:solidFill>
                <a:latin typeface="Calibri"/>
              </a:defRPr>
            </a:pPr>
            <a:r>
              <a:rPr sz="3400" b="1">
                <a:solidFill>
                  <a:srgbClr val="ECF1FF"/>
                </a:solidFill>
                <a:latin typeface="Calibri"/>
              </a:rPr>
              <a:t>Confusion Matrix Comparison</a:t>
            </a:r>
          </a:p>
        </p:txBody>
      </p:sp>
      <p:pic>
        <p:nvPicPr>
          <p:cNvPr id="6" name="Picture 5" descr="rf_3class_confusion_matrix.png"/>
          <p:cNvPicPr>
            <a:picLocks noChangeAspect="1"/>
          </p:cNvPicPr>
          <p:nvPr/>
        </p:nvPicPr>
        <p:blipFill>
          <a:blip r:embed="rId2"/>
          <a:stretch>
            <a:fillRect/>
          </a:stretch>
        </p:blipFill>
        <p:spPr>
          <a:xfrm>
            <a:off x="457200" y="1798293"/>
            <a:ext cx="4023360" cy="3078532"/>
          </a:xfrm>
          <a:prstGeom prst="rect">
            <a:avLst/>
          </a:prstGeom>
        </p:spPr>
      </p:pic>
      <p:sp>
        <p:nvSpPr>
          <p:cNvPr id="7" name="Rectangle 6"/>
          <p:cNvSpPr/>
          <p:nvPr/>
        </p:nvSpPr>
        <p:spPr>
          <a:xfrm>
            <a:off x="384048" y="1725141"/>
            <a:ext cx="4169664" cy="3224836"/>
          </a:xfrm>
          <a:prstGeom prst="rect">
            <a:avLst/>
          </a:prstGeom>
          <a:noFill/>
          <a:ln w="22860">
            <a:solidFill>
              <a:srgbClr val="3EB7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nn_3class_confusion_matrix.png"/>
          <p:cNvPicPr>
            <a:picLocks noChangeAspect="1"/>
          </p:cNvPicPr>
          <p:nvPr/>
        </p:nvPicPr>
        <p:blipFill>
          <a:blip r:embed="rId3"/>
          <a:stretch>
            <a:fillRect/>
          </a:stretch>
        </p:blipFill>
        <p:spPr>
          <a:xfrm>
            <a:off x="4663440" y="1661160"/>
            <a:ext cx="4023360" cy="3352800"/>
          </a:xfrm>
          <a:prstGeom prst="rect">
            <a:avLst/>
          </a:prstGeom>
        </p:spPr>
      </p:pic>
      <p:sp>
        <p:nvSpPr>
          <p:cNvPr id="9" name="Rectangle 8"/>
          <p:cNvSpPr/>
          <p:nvPr/>
        </p:nvSpPr>
        <p:spPr>
          <a:xfrm>
            <a:off x="4590288" y="1588008"/>
            <a:ext cx="4169664" cy="3499104"/>
          </a:xfrm>
          <a:prstGeom prst="rect">
            <a:avLst/>
          </a:prstGeom>
          <a:noFill/>
          <a:ln w="22860">
            <a:solidFill>
              <a:srgbClr val="3EB7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669280"/>
            <a:ext cx="4023360" cy="457200"/>
          </a:xfrm>
          <a:prstGeom prst="rect">
            <a:avLst/>
          </a:prstGeom>
          <a:noFill/>
        </p:spPr>
        <p:txBody>
          <a:bodyPr wrap="none">
            <a:spAutoFit/>
          </a:bodyPr>
          <a:lstStyle/>
          <a:p>
            <a:pPr algn="ctr">
              <a:defRPr sz="1400" b="0">
                <a:solidFill>
                  <a:srgbClr val="B9C4E2"/>
                </a:solidFill>
                <a:latin typeface="Calibri"/>
              </a:defRPr>
            </a:pPr>
            <a:r>
              <a:rPr sz="1400" b="0">
                <a:solidFill>
                  <a:srgbClr val="B9C4E2"/>
                </a:solidFill>
                <a:latin typeface="Calibri"/>
              </a:rPr>
              <a:t>Random Forest: tighter class separation</a:t>
            </a:r>
          </a:p>
        </p:txBody>
      </p:sp>
      <p:sp>
        <p:nvSpPr>
          <p:cNvPr id="11" name="TextBox 10"/>
          <p:cNvSpPr txBox="1"/>
          <p:nvPr/>
        </p:nvSpPr>
        <p:spPr>
          <a:xfrm>
            <a:off x="4663440" y="5669280"/>
            <a:ext cx="4023360" cy="457200"/>
          </a:xfrm>
          <a:prstGeom prst="rect">
            <a:avLst/>
          </a:prstGeom>
          <a:noFill/>
        </p:spPr>
        <p:txBody>
          <a:bodyPr wrap="none">
            <a:spAutoFit/>
          </a:bodyPr>
          <a:lstStyle/>
          <a:p>
            <a:pPr algn="ctr">
              <a:defRPr sz="1400" b="0">
                <a:solidFill>
                  <a:srgbClr val="B9C4E2"/>
                </a:solidFill>
                <a:latin typeface="Calibri"/>
              </a:defRPr>
            </a:pPr>
            <a:r>
              <a:rPr sz="1400" b="0">
                <a:solidFill>
                  <a:srgbClr val="B9C4E2"/>
                </a:solidFill>
                <a:latin typeface="Calibri"/>
              </a:rPr>
              <a:t>1D-CNN: greater off-diagonal confusion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5" name="Rectangle 4"/>
          <p:cNvSpPr/>
          <p:nvPr/>
        </p:nvSpPr>
        <p:spPr>
          <a:xfrm>
            <a:off x="0" y="0"/>
            <a:ext cx="12188952" cy="109728"/>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772400" y="4389120"/>
            <a:ext cx="3657600" cy="3657600"/>
          </a:xfrm>
          <a:prstGeom prst="ellipse">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97280" y="-914400"/>
            <a:ext cx="3657600" cy="3657600"/>
          </a:xfrm>
          <a:prstGeom prst="ellipse">
            <a:avLst/>
          </a:prstGeom>
          <a:solidFill>
            <a:srgbClr val="336D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pPr>
              <a:defRPr sz="3400" b="1">
                <a:solidFill>
                  <a:srgbClr val="ECF1FF"/>
                </a:solidFill>
                <a:latin typeface="Calibri"/>
              </a:defRPr>
            </a:pPr>
            <a:r>
              <a:rPr sz="3400" b="1">
                <a:solidFill>
                  <a:srgbClr val="ECF1FF"/>
                </a:solidFill>
                <a:latin typeface="Calibri"/>
              </a:rPr>
              <a:t>Interpretability and Alert Dynamics</a:t>
            </a:r>
          </a:p>
        </p:txBody>
      </p:sp>
      <p:pic>
        <p:nvPicPr>
          <p:cNvPr id="6" name="Picture 5" descr="rf_3class_feature_importance.png"/>
          <p:cNvPicPr>
            <a:picLocks noChangeAspect="1"/>
          </p:cNvPicPr>
          <p:nvPr/>
        </p:nvPicPr>
        <p:blipFill>
          <a:blip r:embed="rId2"/>
          <a:stretch>
            <a:fillRect/>
          </a:stretch>
        </p:blipFill>
        <p:spPr>
          <a:xfrm>
            <a:off x="457200" y="1328589"/>
            <a:ext cx="4023360" cy="4017941"/>
          </a:xfrm>
          <a:prstGeom prst="rect">
            <a:avLst/>
          </a:prstGeom>
        </p:spPr>
      </p:pic>
      <p:sp>
        <p:nvSpPr>
          <p:cNvPr id="7" name="Rectangle 6"/>
          <p:cNvSpPr/>
          <p:nvPr/>
        </p:nvSpPr>
        <p:spPr>
          <a:xfrm>
            <a:off x="384048" y="1255437"/>
            <a:ext cx="4169664" cy="4164245"/>
          </a:xfrm>
          <a:prstGeom prst="rect">
            <a:avLst/>
          </a:prstGeom>
          <a:noFill/>
          <a:ln w="22860">
            <a:solidFill>
              <a:srgbClr val="3EB7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lockF_alert_timeline.png"/>
          <p:cNvPicPr>
            <a:picLocks noChangeAspect="1"/>
          </p:cNvPicPr>
          <p:nvPr/>
        </p:nvPicPr>
        <p:blipFill>
          <a:blip r:embed="rId3"/>
          <a:stretch>
            <a:fillRect/>
          </a:stretch>
        </p:blipFill>
        <p:spPr>
          <a:xfrm>
            <a:off x="4663440" y="1347828"/>
            <a:ext cx="4023360" cy="3979462"/>
          </a:xfrm>
          <a:prstGeom prst="rect">
            <a:avLst/>
          </a:prstGeom>
        </p:spPr>
      </p:pic>
      <p:sp>
        <p:nvSpPr>
          <p:cNvPr id="9" name="Rectangle 8"/>
          <p:cNvSpPr/>
          <p:nvPr/>
        </p:nvSpPr>
        <p:spPr>
          <a:xfrm>
            <a:off x="4590288" y="1274676"/>
            <a:ext cx="4169664" cy="4125766"/>
          </a:xfrm>
          <a:prstGeom prst="rect">
            <a:avLst/>
          </a:prstGeom>
          <a:noFill/>
          <a:ln w="22860">
            <a:solidFill>
              <a:srgbClr val="3EB7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669280"/>
            <a:ext cx="4023360" cy="457200"/>
          </a:xfrm>
          <a:prstGeom prst="rect">
            <a:avLst/>
          </a:prstGeom>
          <a:noFill/>
        </p:spPr>
        <p:txBody>
          <a:bodyPr wrap="none">
            <a:spAutoFit/>
          </a:bodyPr>
          <a:lstStyle/>
          <a:p>
            <a:pPr algn="ctr">
              <a:defRPr sz="1400" b="0">
                <a:solidFill>
                  <a:srgbClr val="B9C4E2"/>
                </a:solidFill>
                <a:latin typeface="Calibri"/>
              </a:defRPr>
            </a:pPr>
            <a:r>
              <a:rPr sz="1400" b="0">
                <a:solidFill>
                  <a:srgbClr val="B9C4E2"/>
                </a:solidFill>
                <a:latin typeface="Calibri"/>
              </a:rPr>
              <a:t>RF feature/domain importance</a:t>
            </a:r>
          </a:p>
        </p:txBody>
      </p:sp>
      <p:sp>
        <p:nvSpPr>
          <p:cNvPr id="11" name="TextBox 10"/>
          <p:cNvSpPr txBox="1"/>
          <p:nvPr/>
        </p:nvSpPr>
        <p:spPr>
          <a:xfrm>
            <a:off x="4663440" y="5669280"/>
            <a:ext cx="4023360" cy="457200"/>
          </a:xfrm>
          <a:prstGeom prst="rect">
            <a:avLst/>
          </a:prstGeom>
          <a:noFill/>
        </p:spPr>
        <p:txBody>
          <a:bodyPr wrap="none">
            <a:spAutoFit/>
          </a:bodyPr>
          <a:lstStyle/>
          <a:p>
            <a:pPr algn="ctr">
              <a:defRPr sz="1400" b="0">
                <a:solidFill>
                  <a:srgbClr val="B9C4E2"/>
                </a:solidFill>
                <a:latin typeface="Calibri"/>
              </a:defRPr>
            </a:pPr>
            <a:r>
              <a:rPr sz="1400" b="0">
                <a:solidFill>
                  <a:srgbClr val="B9C4E2"/>
                </a:solidFill>
                <a:latin typeface="Calibri"/>
              </a:rPr>
              <a:t>Temporal alert timeline after smoothing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6" name="Rectangle 5"/>
          <p:cNvSpPr/>
          <p:nvPr/>
        </p:nvSpPr>
        <p:spPr>
          <a:xfrm>
            <a:off x="0" y="0"/>
            <a:ext cx="12188952" cy="109728"/>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0" y="4389120"/>
            <a:ext cx="3657600" cy="3657600"/>
          </a:xfrm>
          <a:prstGeom prst="ellipse">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914400"/>
            <a:ext cx="3657600" cy="3657600"/>
          </a:xfrm>
          <a:prstGeom prst="ellipse">
            <a:avLst/>
          </a:prstGeom>
          <a:solidFill>
            <a:srgbClr val="336D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pPr>
              <a:defRPr sz="3400" b="1">
                <a:solidFill>
                  <a:srgbClr val="ECF1FF"/>
                </a:solidFill>
                <a:latin typeface="Calibri"/>
              </a:defRPr>
            </a:pPr>
            <a:r>
              <a:rPr sz="3400" b="1">
                <a:solidFill>
                  <a:srgbClr val="ECF1FF"/>
                </a:solidFill>
                <a:latin typeface="Calibri"/>
              </a:rPr>
              <a:t>Conclusion</a:t>
            </a:r>
          </a:p>
        </p:txBody>
      </p:sp>
      <p:sp>
        <p:nvSpPr>
          <p:cNvPr id="3" name="Content Placeholder 2"/>
          <p:cNvSpPr>
            <a:spLocks noGrp="1"/>
          </p:cNvSpPr>
          <p:nvPr>
            <p:ph idx="1"/>
          </p:nvPr>
        </p:nvSpPr>
        <p:spPr/>
        <p:txBody>
          <a:bodyPr/>
          <a:lstStyle/>
          <a:p>
            <a:pPr>
              <a:defRPr sz="2000" b="0">
                <a:solidFill>
                  <a:srgbClr val="ECF1FF"/>
                </a:solidFill>
                <a:latin typeface="Calibri"/>
              </a:defRPr>
            </a:pPr>
            <a:r>
              <a:rPr sz="2000" b="0">
                <a:solidFill>
                  <a:srgbClr val="ECF1FF"/>
                </a:solidFill>
                <a:latin typeface="Calibri"/>
              </a:rPr>
              <a:t>Under tested conditions, Random Forest is the more suitable transparent baseline.</a:t>
            </a:r>
          </a:p>
          <a:p>
            <a:pPr>
              <a:defRPr sz="2000" b="0">
                <a:solidFill>
                  <a:srgbClr val="ECF1FF"/>
                </a:solidFill>
                <a:latin typeface="Calibri"/>
              </a:defRPr>
            </a:pPr>
            <a:r>
              <a:rPr sz="2000" b="0">
                <a:solidFill>
                  <a:srgbClr val="ECF1FF"/>
                </a:solidFill>
                <a:latin typeface="Calibri"/>
              </a:rPr>
              <a:t>This does not imply deep learning is always worse in CTG.</a:t>
            </a:r>
          </a:p>
          <a:p>
            <a:pPr>
              <a:defRPr sz="2000" b="0">
                <a:solidFill>
                  <a:srgbClr val="ECF1FF"/>
                </a:solidFill>
                <a:latin typeface="Calibri"/>
              </a:defRPr>
            </a:pPr>
            <a:r>
              <a:rPr sz="2000" b="0">
                <a:solidFill>
                  <a:srgbClr val="ECF1FF"/>
                </a:solidFill>
                <a:latin typeface="Calibri"/>
              </a:rPr>
              <a:t>The contribution is an auditable benchmark reference for next-stage validation.</a:t>
            </a:r>
          </a:p>
        </p:txBody>
      </p:sp>
      <p:sp>
        <p:nvSpPr>
          <p:cNvPr id="7" name="Rectangle 6"/>
          <p:cNvSpPr/>
          <p:nvPr/>
        </p:nvSpPr>
        <p:spPr>
          <a:xfrm>
            <a:off x="822960" y="1234440"/>
            <a:ext cx="2011680" cy="45720"/>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6" name="Rectangle 5"/>
          <p:cNvSpPr/>
          <p:nvPr/>
        </p:nvSpPr>
        <p:spPr>
          <a:xfrm>
            <a:off x="0" y="0"/>
            <a:ext cx="12188952" cy="109728"/>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0" y="4389120"/>
            <a:ext cx="3657600" cy="3657600"/>
          </a:xfrm>
          <a:prstGeom prst="ellipse">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914400"/>
            <a:ext cx="3657600" cy="3657600"/>
          </a:xfrm>
          <a:prstGeom prst="ellipse">
            <a:avLst/>
          </a:prstGeom>
          <a:solidFill>
            <a:srgbClr val="336D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pPr>
              <a:defRPr sz="3400" b="1">
                <a:solidFill>
                  <a:srgbClr val="ECF1FF"/>
                </a:solidFill>
                <a:latin typeface="Calibri"/>
              </a:defRPr>
            </a:pPr>
            <a:r>
              <a:rPr sz="3400" b="1">
                <a:solidFill>
                  <a:srgbClr val="ECF1FF"/>
                </a:solidFill>
                <a:latin typeface="Calibri"/>
              </a:rPr>
              <a:t>Limitations and Next Steps</a:t>
            </a:r>
          </a:p>
        </p:txBody>
      </p:sp>
      <p:sp>
        <p:nvSpPr>
          <p:cNvPr id="3" name="Content Placeholder 2"/>
          <p:cNvSpPr>
            <a:spLocks noGrp="1"/>
          </p:cNvSpPr>
          <p:nvPr>
            <p:ph idx="1"/>
          </p:nvPr>
        </p:nvSpPr>
        <p:spPr/>
        <p:txBody>
          <a:bodyPr/>
          <a:lstStyle/>
          <a:p>
            <a:pPr>
              <a:defRPr sz="2000" b="0">
                <a:solidFill>
                  <a:srgbClr val="ECF1FF"/>
                </a:solidFill>
                <a:latin typeface="Calibri"/>
              </a:defRPr>
            </a:pPr>
            <a:r>
              <a:rPr sz="2000" b="0">
                <a:solidFill>
                  <a:srgbClr val="ECF1FF"/>
                </a:solidFill>
                <a:latin typeface="Calibri"/>
              </a:rPr>
              <a:t>Findings are bounded to CTU-UHB and weak-label regime.</a:t>
            </a:r>
          </a:p>
          <a:p>
            <a:pPr>
              <a:defRPr sz="2000" b="0">
                <a:solidFill>
                  <a:srgbClr val="ECF1FF"/>
                </a:solidFill>
                <a:latin typeface="Calibri"/>
              </a:defRPr>
            </a:pPr>
            <a:r>
              <a:rPr sz="2000" b="0">
                <a:solidFill>
                  <a:srgbClr val="ECF1FF"/>
                </a:solidFill>
                <a:latin typeface="Calibri"/>
              </a:rPr>
              <a:t>Repeated grouped resampling and stronger uncertainty quantification are future extensions.</a:t>
            </a:r>
          </a:p>
          <a:p>
            <a:pPr>
              <a:defRPr sz="2000" b="0">
                <a:solidFill>
                  <a:srgbClr val="ECF1FF"/>
                </a:solidFill>
                <a:latin typeface="Calibri"/>
              </a:defRPr>
            </a:pPr>
            <a:r>
              <a:rPr sz="2000" b="0">
                <a:solidFill>
                  <a:srgbClr val="ECF1FF"/>
                </a:solidFill>
                <a:latin typeface="Calibri"/>
              </a:rPr>
              <a:t>External validation across broader datasets is required for stronger transportability claims.</a:t>
            </a:r>
          </a:p>
          <a:p>
            <a:pPr>
              <a:defRPr sz="2000" b="0">
                <a:solidFill>
                  <a:srgbClr val="ECF1FF"/>
                </a:solidFill>
                <a:latin typeface="Calibri"/>
              </a:defRPr>
            </a:pPr>
            <a:r>
              <a:rPr sz="2000" b="0">
                <a:solidFill>
                  <a:srgbClr val="ECF1FF"/>
                </a:solidFill>
                <a:latin typeface="Calibri"/>
              </a:rPr>
              <a:t>Pathway: prospective, clinician-facing translation aligned with INFANT/AI4Life goals.</a:t>
            </a:r>
          </a:p>
        </p:txBody>
      </p:sp>
      <p:sp>
        <p:nvSpPr>
          <p:cNvPr id="7" name="Rectangle 6"/>
          <p:cNvSpPr/>
          <p:nvPr/>
        </p:nvSpPr>
        <p:spPr>
          <a:xfrm>
            <a:off x="822960" y="1234440"/>
            <a:ext cx="2011680" cy="45720"/>
          </a:xfrm>
          <a:prstGeom prst="rect">
            <a:avLst/>
          </a:prstGeom>
          <a:solidFill>
            <a:srgbClr val="3EB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