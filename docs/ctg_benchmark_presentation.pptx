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[morning/afternoon]. I am Naem Haq, and this presentation summarizes my FYP benchmarking study on machine-learning classifiers for CTG fetal heart rate pattern detection. The work is framed by my Residency 4 context at INFANT Research Centre, and focuses on fair, reproducible model comparison for decision-support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CTG is a core intrapartum monitoring tool, but interpretation can be subjective and variable across clinicians and settings. That variability motivates computational decision support. During my Residency 4 placement at INFANT, this practical need became clear, which directly motivated a controlled benchmarking study rather than an isolated model-building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aim was to benchmark two model families under the same conditions: Random Forest and 1D-CNN. This is a within-cohort CTU-UHB benchmark with weakly supervised labels. I keep claims bounded to fixed-split comparative evidence, so conclusions are transparent and proportional to executed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key contribution is fairness of comparison. Both models share the same preprocessing, grouped splitting, and evaluation framework. Record-level grouping prevents leakage between train and test windows from the same labour record. Reproducibility is supported by fixed seeds, stored split manifests, and exported artifacts for auditability.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runs from raw CTG through quality control, preprocessing, segmentation and feature construction, then model training and evaluation. Beyond headline metrics, I include class-wise error analysis, threshold behavior, and post-processing effects so the benchmark reflects operational decision-support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performance gap is substantial on held-out windows: RF reaches 95.55% accuracy and macro-F1 0.945, while CNN reaches 65.31% and 0.584. At record level, CNN drops further to 48.19% accuracy and macro-F1 0.383. Under this tested regime, Random Forest is the stronger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confusion matrices show how the aggregate metric gap appears structurally. RF displays stronger diagonal concentration, indicating better class separation. The CNN matrix shows broader off-diagonal confusion, especially around boundary classes, which contributes to weaker macro-F1 and lower stability after aggregation.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the left, RF importance outputs provide interpretable evidence about which domains drive model decisions, supporting transparency. On the right, the alert timeline illustrates temporal behavior under post-processing policy, showing that usability and alert stability depend on threshold and smoothing choices, not only classifier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conclusion is conditional and scoped: under the tested conditions, Random Forest is currently the more suitable transparent benchmark baseline. This is not a universal claim against deep learning. The study contributes an auditable foundation that future work can extend.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Findings are bounded to CTU-UHB and weak labels, and inferential repeated-resampling analysis was not executed in this benchmark cycle. Priority extensions are stronger uncertainty analysis and external validation on broader datasets. This is the pathway toward prospective clinician-facing translation, aligned with INFANT and AI4Life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/>
            </a:pPr>
            <a:r>
              <a:t>Benchmarking ML Classifiers for CTG</a:t>
            </a:r>
          </a:p>
          <a:p>
            <a:r>
              <a:t>Fetal Heart Rate Pattern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Naem Haq</a:t>
            </a:r>
          </a:p>
          <a:p>
            <a:pPr>
              <a:defRPr sz="1800"/>
            </a:pPr>
            <a:r>
              <a:t>FYP Dissertation Presentation</a:t>
            </a:r>
          </a:p>
          <a:p>
            <a:pPr>
              <a:defRPr sz="1800"/>
            </a:pPr>
            <a:r>
              <a:t>Residency 4 context: INFANT Research Centre (UCC)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Motivation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CTG is widely used in labour monitoring, but interpretation can be subjective.</a:t>
            </a:r>
          </a:p>
          <a:p>
            <a:pPr>
              <a:defRPr sz="2000"/>
            </a:pPr>
            <a:r>
              <a:t>Clinical variability motivates transparent decision-support benchmarking.</a:t>
            </a:r>
          </a:p>
          <a:p>
            <a:pPr>
              <a:defRPr sz="2000"/>
            </a:pPr>
            <a:r>
              <a:t>This benchmarking focus was shaped during Residency 4 at INFANT Research Centre.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Aim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Aim: benchmark supervised classifiers for fetal heart rate pattern detection.</a:t>
            </a:r>
          </a:p>
          <a:p>
            <a:pPr>
              <a:defRPr sz="2000"/>
            </a:pPr>
            <a:r>
              <a:t>Models compared: Random Forest (feature-based) vs 1D-CNN (raw-signal).</a:t>
            </a:r>
          </a:p>
          <a:p>
            <a:pPr>
              <a:defRPr sz="2000"/>
            </a:pPr>
            <a:r>
              <a:t>Scope: within-cohort CTU-UHB benchmark with weakly supervised labels.</a:t>
            </a:r>
          </a:p>
          <a:p>
            <a:pPr>
              <a:defRPr sz="2000"/>
            </a:pPr>
            <a:r>
              <a:t>Claim boundary: fixed-split comparative evidence, not inferential repeated-run ranking.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Benchmark Design and Fairness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Shared preprocessing and leakage-aware grouped splitting by record ID.</a:t>
            </a:r>
          </a:p>
          <a:p>
            <a:pPr>
              <a:defRPr sz="2000"/>
            </a:pPr>
            <a:r>
              <a:t>Common evaluation criteria: class-wise and aggregate metrics.</a:t>
            </a:r>
          </a:p>
          <a:p>
            <a:pPr>
              <a:defRPr sz="2000"/>
            </a:pPr>
            <a:r>
              <a:t>Additional evidence: efficiency, confusion analysis, threshold behaviour, interpretability.</a:t>
            </a:r>
          </a:p>
          <a:p>
            <a:pPr>
              <a:defRPr sz="2000"/>
            </a:pPr>
            <a:r>
              <a:t>Reproducibility controls: fixed seed policy, split manifests, JSON/CSV artifacts.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Signal quality control and preprocessing</a:t>
            </a:r>
          </a:p>
          <a:p>
            <a:pPr>
              <a:defRPr sz="2000"/>
            </a:pPr>
            <a:r>
              <a:t>Windowing and feature extraction</a:t>
            </a:r>
          </a:p>
          <a:p>
            <a:pPr>
              <a:defRPr sz="2000"/>
            </a:pPr>
            <a:r>
              <a:t>Model training with grouped holdout protocol</a:t>
            </a:r>
          </a:p>
          <a:p>
            <a:pPr>
              <a:defRPr sz="2000"/>
            </a:pPr>
            <a:r>
              <a:t>Evaluation, error analysis, thresholding, and post-processing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Headline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Held-out windows: RF 95.55% accuracy, macro-F1 0.945.</a:t>
            </a:r>
          </a:p>
          <a:p>
            <a:pPr>
              <a:defRPr sz="2000"/>
            </a:pPr>
            <a:r>
              <a:t>Held-out windows: CNN 65.31% accuracy, macro-F1 0.584.</a:t>
            </a:r>
          </a:p>
          <a:p>
            <a:pPr>
              <a:defRPr sz="2000"/>
            </a:pPr>
            <a:r>
              <a:t>Record-level CNN drops to 48.19% accuracy, macro-F1 0.383.</a:t>
            </a:r>
          </a:p>
          <a:p>
            <a:pPr>
              <a:defRPr sz="2000"/>
            </a:pPr>
            <a:r>
              <a:t>Result: RF is the stronger current baseline under this data regime.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Confusion Matrix Comparison</a:t>
            </a:r>
          </a:p>
        </p:txBody>
      </p:sp>
      <p:pic>
        <p:nvPicPr>
          <p:cNvPr id="3" name="Picture 2" descr="rf_3class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8293"/>
            <a:ext cx="4023360" cy="3078532"/>
          </a:xfrm>
          <a:prstGeom prst="rect">
            <a:avLst/>
          </a:prstGeom>
        </p:spPr>
      </p:pic>
      <p:pic>
        <p:nvPicPr>
          <p:cNvPr id="4" name="Picture 3" descr="cnn_3class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661160"/>
            <a:ext cx="4023360" cy="3352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Random Forest: tighter class separation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5669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1D-CNN: greater off-diagonal confusion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Interpretability and Alert Dynamics</a:t>
            </a:r>
          </a:p>
        </p:txBody>
      </p:sp>
      <p:pic>
        <p:nvPicPr>
          <p:cNvPr id="3" name="Picture 2" descr="rf_3class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8589"/>
            <a:ext cx="4023360" cy="4017941"/>
          </a:xfrm>
          <a:prstGeom prst="rect">
            <a:avLst/>
          </a:prstGeom>
        </p:spPr>
      </p:pic>
      <p:pic>
        <p:nvPicPr>
          <p:cNvPr id="4" name="Picture 3" descr="blockF_alert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347828"/>
            <a:ext cx="4023360" cy="39794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669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RF feature/domain importance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56692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Temporal alert timeline after smoothing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Under tested conditions, Random Forest is the more suitable transparent baseline.</a:t>
            </a:r>
          </a:p>
          <a:p>
            <a:pPr>
              <a:defRPr sz="2000"/>
            </a:pPr>
            <a:r>
              <a:t>This does not imply deep learning is always worse in CTG.</a:t>
            </a:r>
          </a:p>
          <a:p>
            <a:pPr>
              <a:defRPr sz="2000"/>
            </a:pPr>
            <a:r>
              <a:t>The contribution is an auditable benchmark reference for next-stage validation.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/>
            </a:pPr>
            <a:r>
              <a:t>Limitations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Findings are bounded to CTU-UHB and weak-label regime.</a:t>
            </a:r>
          </a:p>
          <a:p>
            <a:pPr>
              <a:defRPr sz="2000"/>
            </a:pPr>
            <a:r>
              <a:t>Repeated grouped resampling and stronger uncertainty quantification are future extensions.</a:t>
            </a:r>
          </a:p>
          <a:p>
            <a:pPr>
              <a:defRPr sz="2000"/>
            </a:pPr>
            <a:r>
              <a:t>External validation across broader datasets is required for stronger transportability claims.</a:t>
            </a:r>
          </a:p>
          <a:p>
            <a:pPr>
              <a:defRPr sz="2000"/>
            </a:pPr>
            <a:r>
              <a:t>Pathway: prospective, clinician-facing translation aligned with INFANT/AI4Life goals.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